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52414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the NovaPay Financial Performance Dashboard presentation. This project demonstrates an end-to-end FP&amp;A analytics workflow using Excel, SQL, Python, and Power BI for a fictional fintech company.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NovaPay is a fictional fintech company created to simulate a realistic FP&amp;A analytics environment. The project covers all major dimensions of corporate finance performance: revenue, costs, profitability, customer metrics, and forward planning.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business problem was fragmented financial data with no unified view. This project addresses all six pain points by building an integrated FP&amp;A analytics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Excel holds the P&amp;L, budget vs. actual and scenario sheets. SQL queries summarize revenue, variances and customer KPIs. The Python notebook rebuilds the revenue-to-EBITDA bridge, budget vs. actual, expense overruns and one-month scenarios. Power BI presents it, and the executive report summarizes the findings.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 model contains 7 relational tables modeled after a real FP&amp;A environment. Revenue, expenses, KPIs, budgets, and customers each live in separate sheets, enabling clean dimensional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Power BI dashboard is a single interactive page. The month slicer filters every panel. KPI cards show revenue, gross margin, EBITDA, active customers and revenue vs. budget.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findings: revenue more than doubled but EBITDA got worse; revenue beat budget while EBITDA missed every month because of opex overruns; one customer is about 40% of revenue; and each new customer costs roughly $10K to acquire. All figures come from a fictional six-month dataset.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five recommendations translate the data insights into actionable management priorities. They are sequenced by impact and feasibility, with cost control and margin expansion as the highest-priority items.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scenarios apply the base, upside and downside assumptions to June actuals for a one-month view of July, using the same logic in Excel and Python. Six months of data is not enough for a statistical forecast, so these are what-ifs, not predictions. All three keep EBITDA negative.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project demonstrates a complete FP&amp;A analytics workflow from raw financial data to executive-ready insights. The five-tool stack mirrors real-world analytics engineering practices and makes this portfolio piece relevant for finance, data, and analytics roles.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583680" y="274320"/>
            <a:ext cx="54864" cy="54864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583680" y="685800"/>
            <a:ext cx="54864" cy="54864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583680" y="1097280"/>
            <a:ext cx="54864" cy="54864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583680" y="1508760"/>
            <a:ext cx="54864" cy="54864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995160" y="274320"/>
            <a:ext cx="54864" cy="54864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995160" y="685800"/>
            <a:ext cx="54864" cy="54864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995160" y="1097280"/>
            <a:ext cx="54864" cy="54864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995160" y="1508760"/>
            <a:ext cx="54864" cy="54864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406640" y="274320"/>
            <a:ext cx="54864" cy="54864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406640" y="685800"/>
            <a:ext cx="54864" cy="54864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406640" y="1097280"/>
            <a:ext cx="54864" cy="54864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406640" y="1508760"/>
            <a:ext cx="54864" cy="54864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818120" y="274320"/>
            <a:ext cx="54864" cy="54864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818120" y="685800"/>
            <a:ext cx="54864" cy="54864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818120" y="1097280"/>
            <a:ext cx="54864" cy="54864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818120" y="1508760"/>
            <a:ext cx="54864" cy="54864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229600" y="274320"/>
            <a:ext cx="54864" cy="54864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229600" y="685800"/>
            <a:ext cx="54864" cy="54864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229600" y="1097280"/>
            <a:ext cx="54864" cy="54864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229600" y="1508760"/>
            <a:ext cx="54864" cy="54864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641080" y="274320"/>
            <a:ext cx="54864" cy="54864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641080" y="685800"/>
            <a:ext cx="54864" cy="54864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641080" y="1097280"/>
            <a:ext cx="54864" cy="54864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641080" y="1508760"/>
            <a:ext cx="54864" cy="54864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11480" y="82296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NovaPay</a:t>
            </a:r>
            <a:endParaRPr lang="en-US" sz="5200" dirty="0"/>
          </a:p>
        </p:txBody>
      </p:sp>
      <p:sp>
        <p:nvSpPr>
          <p:cNvPr id="28" name="Text 26"/>
          <p:cNvSpPr/>
          <p:nvPr/>
        </p:nvSpPr>
        <p:spPr>
          <a:xfrm>
            <a:off x="411480" y="1600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Performance Dashboard</a:t>
            </a:r>
            <a:endParaRPr lang="en-US" sz="2600" dirty="0"/>
          </a:p>
        </p:txBody>
      </p:sp>
      <p:sp>
        <p:nvSpPr>
          <p:cNvPr id="29" name="Shape 27"/>
          <p:cNvSpPr/>
          <p:nvPr/>
        </p:nvSpPr>
        <p:spPr>
          <a:xfrm>
            <a:off x="411480" y="2331720"/>
            <a:ext cx="5486400" cy="36576"/>
          </a:xfrm>
          <a:prstGeom prst="rect">
            <a:avLst/>
          </a:prstGeom>
          <a:solidFill>
            <a:srgbClr val="0D9488">
              <a:alpha val="70000"/>
            </a:srgbClr>
          </a:solidFill>
          <a:ln w="12700">
            <a:solidFill>
              <a:srgbClr val="0D9488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11480" y="248716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FP&amp;A Analytics &amp; Management Reporting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11480" y="294436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7A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 ·  SQL  ·  Python  ·  Power BI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11480" y="41605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Srushti Mahant Pawar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11480" y="45262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A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FP&amp;A Analytics Portfolio Project  ·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3840480" cy="352044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38404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Company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481328"/>
            <a:ext cx="347472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NovaPay is a fictional B2B fintech company offering payment processing and analytics services to enterprise clients.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streams include subscription fees, transaction fees, premium analytics, and setup charges.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covers Jan 2024 – Jun 2024, with customer-level revenue and active customer metrics tracked monthly.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023360" cy="352044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40233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0" y="1051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Models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37760" y="150876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 tracking by stream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vs. actual variance analysis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expense monitoring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&amp; gross margin profitability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&amp; CAC risk assessment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Three-scenario financial forecasting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7315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024128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lacked a single source of truth for financial performance across revenue, costs, customers, and profitability.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920240"/>
            <a:ext cx="2697480" cy="123444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64008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2029968"/>
            <a:ext cx="292608" cy="29260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93776" y="2002536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39112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32688" y="1993392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Revenue Visibility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932688" y="2340864"/>
            <a:ext cx="20848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stream tracked manually; no month-over-month trend available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3246120" y="1920240"/>
            <a:ext cx="2697480" cy="123444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3246120" y="1920240"/>
            <a:ext cx="64008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2029968"/>
            <a:ext cx="292608" cy="292608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3374136" y="2002536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0712" y="2039112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813048" y="1993392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Overruns Undetected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3813048" y="2340864"/>
            <a:ext cx="20848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variances vs. budget surfaced only at quarter-end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6126480" y="1920240"/>
            <a:ext cx="2697480" cy="123444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5"/>
          <p:cNvSpPr/>
          <p:nvPr/>
        </p:nvSpPr>
        <p:spPr>
          <a:xfrm>
            <a:off x="6126480" y="1920240"/>
            <a:ext cx="64008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1928" y="2029968"/>
            <a:ext cx="292608" cy="292608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6254496" y="2002536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1072" y="2039112"/>
            <a:ext cx="274320" cy="27432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693408" y="1993392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Declining</a:t>
            </a:r>
            <a:endParaRPr lang="en-US" sz="1200" dirty="0"/>
          </a:p>
        </p:txBody>
      </p:sp>
      <p:sp>
        <p:nvSpPr>
          <p:cNvPr id="26" name="Text 18"/>
          <p:cNvSpPr/>
          <p:nvPr/>
        </p:nvSpPr>
        <p:spPr>
          <a:xfrm>
            <a:off x="6693408" y="2340864"/>
            <a:ext cx="20848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costs rising faster than revenue; margin pressure building</a:t>
            </a:r>
            <a:endParaRPr lang="en-US" sz="1050" dirty="0"/>
          </a:p>
        </p:txBody>
      </p:sp>
      <p:sp>
        <p:nvSpPr>
          <p:cNvPr id="27" name="Shape 19"/>
          <p:cNvSpPr/>
          <p:nvPr/>
        </p:nvSpPr>
        <p:spPr>
          <a:xfrm>
            <a:off x="365760" y="3337560"/>
            <a:ext cx="2697480" cy="123444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0"/>
          <p:cNvSpPr/>
          <p:nvPr/>
        </p:nvSpPr>
        <p:spPr>
          <a:xfrm>
            <a:off x="365760" y="3337560"/>
            <a:ext cx="64008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208" y="3447288"/>
            <a:ext cx="292608" cy="292608"/>
          </a:xfrm>
          <a:prstGeom prst="rect">
            <a:avLst/>
          </a:prstGeom>
        </p:spPr>
      </p:pic>
      <p:sp>
        <p:nvSpPr>
          <p:cNvPr id="30" name="Shape 21"/>
          <p:cNvSpPr/>
          <p:nvPr/>
        </p:nvSpPr>
        <p:spPr>
          <a:xfrm>
            <a:off x="493776" y="3419856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" y="3456432"/>
            <a:ext cx="274320" cy="274320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932688" y="3410712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Not Monitored</a:t>
            </a:r>
            <a:endParaRPr lang="en-US" sz="1200" dirty="0"/>
          </a:p>
        </p:txBody>
      </p:sp>
      <p:sp>
        <p:nvSpPr>
          <p:cNvPr id="33" name="Text 23"/>
          <p:cNvSpPr/>
          <p:nvPr/>
        </p:nvSpPr>
        <p:spPr>
          <a:xfrm>
            <a:off x="932688" y="3758184"/>
            <a:ext cx="20848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attrition tracked inconsistently; no risk-flagging in place</a:t>
            </a:r>
            <a:endParaRPr lang="en-US" sz="1050" dirty="0"/>
          </a:p>
        </p:txBody>
      </p:sp>
      <p:sp>
        <p:nvSpPr>
          <p:cNvPr id="34" name="Shape 24"/>
          <p:cNvSpPr/>
          <p:nvPr/>
        </p:nvSpPr>
        <p:spPr>
          <a:xfrm>
            <a:off x="3246120" y="3337560"/>
            <a:ext cx="2697480" cy="123444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25"/>
          <p:cNvSpPr/>
          <p:nvPr/>
        </p:nvSpPr>
        <p:spPr>
          <a:xfrm>
            <a:off x="3246120" y="3337560"/>
            <a:ext cx="64008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01568" y="3447288"/>
            <a:ext cx="292608" cy="292608"/>
          </a:xfrm>
          <a:prstGeom prst="rect">
            <a:avLst/>
          </a:prstGeom>
        </p:spPr>
      </p:pic>
      <p:sp>
        <p:nvSpPr>
          <p:cNvPr id="37" name="Shape 26"/>
          <p:cNvSpPr/>
          <p:nvPr/>
        </p:nvSpPr>
        <p:spPr>
          <a:xfrm>
            <a:off x="3374136" y="3419856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8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10712" y="3456432"/>
            <a:ext cx="274320" cy="274320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3813048" y="3410712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Efficiency Unknown</a:t>
            </a:r>
            <a:endParaRPr lang="en-US" sz="1200" dirty="0"/>
          </a:p>
        </p:txBody>
      </p:sp>
      <p:sp>
        <p:nvSpPr>
          <p:cNvPr id="40" name="Text 28"/>
          <p:cNvSpPr/>
          <p:nvPr/>
        </p:nvSpPr>
        <p:spPr>
          <a:xfrm>
            <a:off x="3813048" y="3758184"/>
            <a:ext cx="20848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view on acquisition cost relative to revenue per customer</a:t>
            </a:r>
            <a:endParaRPr lang="en-US" sz="1050" dirty="0"/>
          </a:p>
        </p:txBody>
      </p:sp>
      <p:sp>
        <p:nvSpPr>
          <p:cNvPr id="41" name="Shape 29"/>
          <p:cNvSpPr/>
          <p:nvPr/>
        </p:nvSpPr>
        <p:spPr>
          <a:xfrm>
            <a:off x="6126480" y="3337560"/>
            <a:ext cx="2697480" cy="123444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30"/>
          <p:cNvSpPr/>
          <p:nvPr/>
        </p:nvSpPr>
        <p:spPr>
          <a:xfrm>
            <a:off x="6126480" y="3337560"/>
            <a:ext cx="64008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3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1928" y="3447288"/>
            <a:ext cx="292608" cy="292608"/>
          </a:xfrm>
          <a:prstGeom prst="rect">
            <a:avLst/>
          </a:prstGeom>
        </p:spPr>
      </p:pic>
      <p:sp>
        <p:nvSpPr>
          <p:cNvPr id="44" name="Shape 31"/>
          <p:cNvSpPr/>
          <p:nvPr/>
        </p:nvSpPr>
        <p:spPr>
          <a:xfrm>
            <a:off x="6254496" y="3419856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5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91072" y="3456432"/>
            <a:ext cx="274320" cy="274320"/>
          </a:xfrm>
          <a:prstGeom prst="rect">
            <a:avLst/>
          </a:prstGeom>
        </p:spPr>
      </p:pic>
      <p:sp>
        <p:nvSpPr>
          <p:cNvPr id="46" name="Text 32"/>
          <p:cNvSpPr/>
          <p:nvPr/>
        </p:nvSpPr>
        <p:spPr>
          <a:xfrm>
            <a:off x="6693408" y="3410712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Reporting</a:t>
            </a:r>
            <a:endParaRPr lang="en-US" sz="1200" dirty="0"/>
          </a:p>
        </p:txBody>
      </p:sp>
      <p:sp>
        <p:nvSpPr>
          <p:cNvPr id="47" name="Text 33"/>
          <p:cNvSpPr/>
          <p:nvPr/>
        </p:nvSpPr>
        <p:spPr>
          <a:xfrm>
            <a:off x="6693408" y="3758184"/>
            <a:ext cx="20848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Finance, ops, and executive teams working from different data sources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Workflow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463040" cy="3291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1463040" cy="54864"/>
          </a:xfrm>
          <a:prstGeom prst="rect">
            <a:avLst/>
          </a:prstGeom>
          <a:solidFill>
            <a:srgbClr val="1B6F3A"/>
          </a:solidFill>
          <a:ln w="12700">
            <a:solidFill>
              <a:srgbClr val="1B6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60120" y="1188720"/>
            <a:ext cx="640080" cy="640080"/>
          </a:xfrm>
          <a:prstGeom prst="ellipse">
            <a:avLst/>
          </a:prstGeom>
          <a:solidFill>
            <a:srgbClr val="1B6F3A"/>
          </a:solidFill>
          <a:ln w="12700">
            <a:solidFill>
              <a:srgbClr val="1B6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2801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19659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4360" y="23591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FP&amp;A Model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2697480"/>
            <a:ext cx="1280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model with Revenue, Expenses, KPIs, Scenarios, and Budget sheets; monthly actuals vs. plan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048256" y="2450592"/>
            <a:ext cx="109728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975104" y="2331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B8A6"/>
                </a:solidFill>
              </a:rPr>
              <a:t>›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2194560" y="1005840"/>
            <a:ext cx="1463040" cy="3291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2194560" y="1005840"/>
            <a:ext cx="1463040" cy="54864"/>
          </a:xfrm>
          <a:prstGeom prst="rect">
            <a:avLst/>
          </a:prstGeom>
          <a:solidFill>
            <a:srgbClr val="CC6B00"/>
          </a:solidFill>
          <a:ln w="12700">
            <a:solidFill>
              <a:srgbClr val="CC6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2606040" y="1188720"/>
            <a:ext cx="640080" cy="640080"/>
          </a:xfrm>
          <a:prstGeom prst="ellipse">
            <a:avLst/>
          </a:prstGeom>
          <a:solidFill>
            <a:srgbClr val="CC6B00"/>
          </a:solidFill>
          <a:ln w="12700">
            <a:solidFill>
              <a:srgbClr val="CC6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7480" y="1280160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240280" y="19659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2240280" y="23591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2286000" y="2697480"/>
            <a:ext cx="1280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analytical queries: revenue mix, budget variance, expense overruns, EBITDA, churn &amp; CAC risk flags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3694176" y="2450592"/>
            <a:ext cx="109728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3621024" y="2331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B8A6"/>
                </a:solidFill>
              </a:rPr>
              <a:t>›</a:t>
            </a:r>
            <a:endParaRPr lang="en-US" sz="1800" dirty="0"/>
          </a:p>
        </p:txBody>
      </p:sp>
      <p:sp>
        <p:nvSpPr>
          <p:cNvPr id="22" name="Shape 18"/>
          <p:cNvSpPr/>
          <p:nvPr/>
        </p:nvSpPr>
        <p:spPr>
          <a:xfrm>
            <a:off x="3840480" y="1005840"/>
            <a:ext cx="1463040" cy="3291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3840480" y="1005840"/>
            <a:ext cx="1463040" cy="54864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4251960" y="1188720"/>
            <a:ext cx="640080" cy="640080"/>
          </a:xfrm>
          <a:prstGeom prst="ellipse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400" y="1280160"/>
            <a:ext cx="457200" cy="45720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3886200" y="19659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3886200" y="23591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3931920" y="2697480"/>
            <a:ext cx="1280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notebook: EBITDA bridge, budget vs. actual, expense overruns, concentration, scenarios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5340096" y="2450592"/>
            <a:ext cx="109728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5"/>
          <p:cNvSpPr/>
          <p:nvPr/>
        </p:nvSpPr>
        <p:spPr>
          <a:xfrm>
            <a:off x="5266944" y="2331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B8A6"/>
                </a:solidFill>
              </a:rPr>
              <a:t>›</a:t>
            </a:r>
            <a:endParaRPr lang="en-US" sz="1800" dirty="0"/>
          </a:p>
        </p:txBody>
      </p:sp>
      <p:sp>
        <p:nvSpPr>
          <p:cNvPr id="31" name="Shape 26"/>
          <p:cNvSpPr/>
          <p:nvPr/>
        </p:nvSpPr>
        <p:spPr>
          <a:xfrm>
            <a:off x="5486400" y="1005840"/>
            <a:ext cx="1463040" cy="3291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7"/>
          <p:cNvSpPr/>
          <p:nvPr/>
        </p:nvSpPr>
        <p:spPr>
          <a:xfrm>
            <a:off x="5486400" y="1005840"/>
            <a:ext cx="1463040" cy="54864"/>
          </a:xfrm>
          <a:prstGeom prst="rect">
            <a:avLst/>
          </a:prstGeom>
          <a:solidFill>
            <a:srgbClr val="BE2B7B"/>
          </a:solidFill>
          <a:ln w="12700">
            <a:solidFill>
              <a:srgbClr val="BE2B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8"/>
          <p:cNvSpPr/>
          <p:nvPr/>
        </p:nvSpPr>
        <p:spPr>
          <a:xfrm>
            <a:off x="5897880" y="1188720"/>
            <a:ext cx="640080" cy="640080"/>
          </a:xfrm>
          <a:prstGeom prst="ellipse">
            <a:avLst/>
          </a:prstGeom>
          <a:solidFill>
            <a:srgbClr val="BE2B7B"/>
          </a:solidFill>
          <a:ln w="12700">
            <a:solidFill>
              <a:srgbClr val="BE2B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9320" y="1280160"/>
            <a:ext cx="457200" cy="45720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5532120" y="19659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600" dirty="0"/>
          </a:p>
        </p:txBody>
      </p:sp>
      <p:sp>
        <p:nvSpPr>
          <p:cNvPr id="36" name="Text 30"/>
          <p:cNvSpPr/>
          <p:nvPr/>
        </p:nvSpPr>
        <p:spPr>
          <a:xfrm>
            <a:off x="5532120" y="23591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577840" y="2697480"/>
            <a:ext cx="1280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6-chart interactive dashboard with month slicer, KPI cards, revenue trend, budget vs. actual, and more</a:t>
            </a:r>
            <a:endParaRPr lang="en-US" sz="1000" dirty="0"/>
          </a:p>
        </p:txBody>
      </p:sp>
      <p:sp>
        <p:nvSpPr>
          <p:cNvPr id="38" name="Shape 32"/>
          <p:cNvSpPr/>
          <p:nvPr/>
        </p:nvSpPr>
        <p:spPr>
          <a:xfrm>
            <a:off x="6986016" y="2450592"/>
            <a:ext cx="109728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3"/>
          <p:cNvSpPr/>
          <p:nvPr/>
        </p:nvSpPr>
        <p:spPr>
          <a:xfrm>
            <a:off x="6912864" y="2331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B8A6"/>
                </a:solidFill>
              </a:rPr>
              <a:t>›</a:t>
            </a:r>
            <a:endParaRPr lang="en-US" sz="1800" dirty="0"/>
          </a:p>
        </p:txBody>
      </p:sp>
      <p:sp>
        <p:nvSpPr>
          <p:cNvPr id="40" name="Shape 34"/>
          <p:cNvSpPr/>
          <p:nvPr/>
        </p:nvSpPr>
        <p:spPr>
          <a:xfrm>
            <a:off x="7132320" y="1005840"/>
            <a:ext cx="1463040" cy="3291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5"/>
          <p:cNvSpPr/>
          <p:nvPr/>
        </p:nvSpPr>
        <p:spPr>
          <a:xfrm>
            <a:off x="7132320" y="1005840"/>
            <a:ext cx="1463040" cy="5486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6"/>
          <p:cNvSpPr/>
          <p:nvPr/>
        </p:nvSpPr>
        <p:spPr>
          <a:xfrm>
            <a:off x="7543800" y="1188720"/>
            <a:ext cx="640080" cy="64008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35240" y="1280160"/>
            <a:ext cx="457200" cy="457200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7178040" y="19659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600" dirty="0"/>
          </a:p>
        </p:txBody>
      </p:sp>
      <p:sp>
        <p:nvSpPr>
          <p:cNvPr id="45" name="Text 38"/>
          <p:cNvSpPr/>
          <p:nvPr/>
        </p:nvSpPr>
        <p:spPr>
          <a:xfrm>
            <a:off x="7178040" y="23591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Output</a:t>
            </a:r>
            <a:endParaRPr lang="en-US" sz="1000" dirty="0"/>
          </a:p>
        </p:txBody>
      </p:sp>
      <p:sp>
        <p:nvSpPr>
          <p:cNvPr id="46" name="Text 39"/>
          <p:cNvSpPr/>
          <p:nvPr/>
        </p:nvSpPr>
        <p:spPr>
          <a:xfrm>
            <a:off x="7223760" y="2697480"/>
            <a:ext cx="1280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Word-format executive summary with key findings, tables, risk flags, and strategic recommendations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&amp; Dataset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9611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structured tables · Jan 2024 – Jun 2024 · Monthly granularity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98448"/>
            <a:ext cx="2011680" cy="137160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298448"/>
            <a:ext cx="20116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93192" y="1335024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93192" y="1709928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Month, Customer, Subscription, Transaction Fee, Premium Analytics, Setup Fee, Total Revenue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96312" y="1298448"/>
            <a:ext cx="2011680" cy="137160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496312" y="1298448"/>
            <a:ext cx="201168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69464" y="1335024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69464" y="1709928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Month, Department, Category, Vendor, Budget Expense, Actual Expense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72584" y="1298448"/>
            <a:ext cx="2011680" cy="137160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72584" y="1298448"/>
            <a:ext cx="201168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45736" y="1335024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45736" y="1709928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Month, Budget Revenue, Budget Expenses, Budget COGS, Budget EBITDA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48856" y="1298448"/>
            <a:ext cx="2011680" cy="137160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848856" y="1298448"/>
            <a:ext cx="2011680" cy="347472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922008" y="1335024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Metrics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922008" y="1709928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Month, Active Customers, New, Lost, Churn Rate, CAC, ARPC, NRR, Gross Margin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2944368"/>
            <a:ext cx="2011680" cy="137160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0040" y="2944368"/>
            <a:ext cx="2011680" cy="34747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93192" y="2980944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Summary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93192" y="3355848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Month, Actual Revenue, Actual Expenses, COGS, Gross Profit, Gross Margin, EBITDA, EBITDA Margin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496312" y="2944368"/>
            <a:ext cx="2011680" cy="137160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496312" y="2944368"/>
            <a:ext cx="2011680" cy="34747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569464" y="2980944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Inputs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569464" y="3355848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Scenario, Growth Rate, Churn Rate, Pricing Change, Payroll Inflation, Marketing Change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72584" y="2944368"/>
            <a:ext cx="2011680" cy="137160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672584" y="2944368"/>
            <a:ext cx="2011680" cy="34747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45736" y="2980944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45736" y="3355848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ID, Customer Name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6812280" y="841248"/>
            <a:ext cx="2148840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812280" y="841248"/>
            <a:ext cx="45720" cy="5120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949440" y="85953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949440" y="107899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· Margin · EBITDA · Customers · Revenue vs Budget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812280" y="1463040"/>
            <a:ext cx="2148840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812280" y="1463040"/>
            <a:ext cx="45720" cy="5120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949440" y="148132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Slicer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949440" y="1700784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all panels by Jan–Jun 2024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812280" y="2084832"/>
            <a:ext cx="2148840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812280" y="2084832"/>
            <a:ext cx="45720" cy="5120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949440" y="210312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Trend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949440" y="232257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growth from Jan to Jun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812280" y="2706624"/>
            <a:ext cx="2148840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6812280" y="2706624"/>
            <a:ext cx="45720" cy="5120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949440" y="272491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vs Actual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949440" y="294436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comparison by month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812280" y="3328416"/>
            <a:ext cx="2148840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6812280" y="3328416"/>
            <a:ext cx="45720" cy="5120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949440" y="3346704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Mix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949440" y="356616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chart by category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6812280" y="3950208"/>
            <a:ext cx="2148840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6812280" y="3950208"/>
            <a:ext cx="45720" cy="5120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949440" y="396849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Trend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949440" y="418795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cost trajectory</a:t>
            </a:r>
            <a:endParaRPr lang="en-US" sz="9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AE1FBDF6-1ACA-1C4E-066C-635B2158BB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008" y="827180"/>
            <a:ext cx="6506078" cy="39065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114800" cy="160020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502920" cy="50292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051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0" y="1033272"/>
            <a:ext cx="868680" cy="41148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0" y="1033272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+128%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33272" y="1024128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Up, EBITDA Down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33272" y="1344168"/>
            <a:ext cx="23957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→ Jun 2024</a:t>
            </a:r>
            <a:endParaRPr lang="en-US" sz="1000" dirty="0">
              <a:solidFill>
                <a:schemeClr val="tx2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411480" y="160020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rose from $4.2K to $9.5K, but EBITDA moved from –$35.0K to –$37.7K. Gross profit rose $3.1K while operating expenses rose $5.9K.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960120"/>
            <a:ext cx="4114800" cy="160020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54880" y="1051560"/>
            <a:ext cx="502920" cy="50292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0" y="1051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818120" y="1033272"/>
            <a:ext cx="868680" cy="4114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818120" y="1033272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+17%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76672" y="1024128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Beat, EBITDA Missed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76672" y="1344168"/>
            <a:ext cx="23957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vs. Actual</a:t>
            </a:r>
            <a:endParaRPr lang="en-US" sz="1000" dirty="0">
              <a:solidFill>
                <a:schemeClr val="tx2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4754880" y="160020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Six-month revenue was $35.0K vs. a $29.9K budget, but opex ran over plan every month (cloud hosting +$5.1K, marketing +$4.9K), so EBITDA missed budget in all six months.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0040" y="2743200"/>
            <a:ext cx="4114800" cy="160020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11480" y="2834640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11480" y="2834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474720" y="2816352"/>
            <a:ext cx="86868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474720" y="2816352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033272" y="2807208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Concentration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1033272" y="3127248"/>
            <a:ext cx="23957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Revenue</a:t>
            </a:r>
            <a:endParaRPr lang="en-US" sz="1000" dirty="0">
              <a:solidFill>
                <a:schemeClr val="tx2"/>
              </a:solidFill>
            </a:endParaRPr>
          </a:p>
        </p:txBody>
      </p:sp>
      <p:sp>
        <p:nvSpPr>
          <p:cNvPr id="43" name="Text 41"/>
          <p:cNvSpPr/>
          <p:nvPr/>
        </p:nvSpPr>
        <p:spPr>
          <a:xfrm>
            <a:off x="411480" y="338328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TechStart Ltd generated 39.8% of six-month revenue, and the top two customers 59%. Losing one account would materially cut revenue.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663440" y="2743200"/>
            <a:ext cx="4114800" cy="160020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754880" y="2834640"/>
            <a:ext cx="502920" cy="5029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754880" y="2834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7818120" y="2816352"/>
            <a:ext cx="868680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7818120" y="2816352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~$10K+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5376672" y="2807208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Costly Acquisition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5376672" y="3127248"/>
            <a:ext cx="23957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i="1" dirty="0">
                <a:solidFill>
                  <a:schemeClr val="tx2"/>
                </a:solidFill>
              </a:rPr>
              <a:t>CAC, Mar–Jun</a:t>
            </a:r>
          </a:p>
        </p:txBody>
      </p:sp>
      <p:sp>
        <p:nvSpPr>
          <p:cNvPr id="51" name="Text 49"/>
          <p:cNvSpPr/>
          <p:nvPr/>
        </p:nvSpPr>
        <p:spPr>
          <a:xfrm>
            <a:off x="4754880" y="338328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chemeClr val="tx2"/>
                </a:solidFill>
              </a:rPr>
              <a:t>Each new customer cost $9.8K–$11.6K in marketing, against under $2K a month in revenue per customer.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0040" y="4434840"/>
            <a:ext cx="8458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i="1">
                <a:solidFill>
                  <a:srgbClr val="64748B"/>
                </a:solidFill>
                <a:latin typeface="Calibri"/>
              </a:rPr>
              <a:t>Fictional company · Jan–Jun 2024 data · Source: NovaPay FP&amp;A Excel model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74980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54864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088136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08813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101498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Operating Costs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1335024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monthly spend reviews for marketing and cloud hosting. Flag any line exceeding 10% of budget for CFO approval.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1792224"/>
            <a:ext cx="8503920" cy="74980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" y="1792224"/>
            <a:ext cx="54864" cy="7498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1920240"/>
            <a:ext cx="475488" cy="47548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192024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184708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EBITDA Margins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2167128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Basic-plan customers toward Premium tiers to improve revenue quality. Premium plan upgrades can improve recurring revenue with limited incremental cost.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2624328"/>
            <a:ext cx="8503920" cy="74980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0040" y="2624328"/>
            <a:ext cx="54864" cy="7498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2752344"/>
            <a:ext cx="475488" cy="47548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275234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97280" y="267919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Acquisition Efficiency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97280" y="2999232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CAC against revenue per customer monthly. High-risk months (CAC &gt; $10K) should trigger a marketing mix review.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3456432"/>
            <a:ext cx="8503920" cy="74980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0040" y="3456432"/>
            <a:ext cx="54864" cy="749808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57200" y="3584448"/>
            <a:ext cx="475488" cy="475488"/>
          </a:xfrm>
          <a:prstGeom prst="ellipse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358444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97280" y="3511296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Customer Concentration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97280" y="3831336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Diversify the customer base to reduce single-customer revenue dependency.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0040" y="4288536"/>
            <a:ext cx="8503920" cy="74980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20040" y="4288536"/>
            <a:ext cx="54864" cy="74980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57200" y="4416552"/>
            <a:ext cx="475488" cy="475488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57200" y="441655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97280" y="43434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Management Reporting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97280" y="466344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the NovaPay dashboard as the standard executive reporting tool. Monthly business review cadence anchored to KPI cards, revenue trend, and EBITDA performance.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Analysis &amp; Analytics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9611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Three-Scenario Analysis: July 2024 from June Actuals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61872"/>
          <a:ext cx="5029200" cy="1572768"/>
        </p:xfrm>
        <a:graphic>
          <a:graphicData uri="http://schemas.openxmlformats.org/drawingml/2006/table">
            <a:tbl>
              <a:tblPr/>
              <a:tblGrid>
                <a:gridCol w="1257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Growth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Payroll Inflation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July EBITDA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Case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–$39.0K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Upside Case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–$38.3K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Downside Case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–$40.1K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0" y="896112"/>
            <a:ext cx="3200400" cy="3931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806440" y="10058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Capabilities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806440" y="1463040"/>
            <a:ext cx="29260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Scenario-based revenue &amp; EBITDA analysis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vs. actual variance analysis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Revenue-to-EBITDA bridge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Month-over-month EBITDA trend tracking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risk flagging in SQL (churn, CAC)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SQL-based ad hoc financial queries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65760" y="2926080"/>
            <a:ext cx="1600200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7"/>
          <p:cNvSpPr/>
          <p:nvPr/>
        </p:nvSpPr>
        <p:spPr>
          <a:xfrm>
            <a:off x="365760" y="2999232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365760" y="352044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FF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148840" y="2926080"/>
            <a:ext cx="1600200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148840" y="2999232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2148840" y="352044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FF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931920" y="2926080"/>
            <a:ext cx="1600200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3931920" y="2999232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200" dirty="0"/>
          </a:p>
        </p:txBody>
      </p:sp>
      <p:sp>
        <p:nvSpPr>
          <p:cNvPr id="17" name="Text 14"/>
          <p:cNvSpPr/>
          <p:nvPr/>
        </p:nvSpPr>
        <p:spPr>
          <a:xfrm>
            <a:off x="3931920" y="352044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FF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of Data</a:t>
            </a:r>
            <a:endParaRPr lang="en-US" sz="1050" dirty="0"/>
          </a:p>
        </p:txBody>
      </p:sp>
      <p:sp>
        <p:nvSpPr>
          <p:cNvPr id="18" name="TextBox 17"/>
          <p:cNvSpPr txBox="1"/>
          <p:nvPr/>
        </p:nvSpPr>
        <p:spPr>
          <a:xfrm>
            <a:off x="365760" y="4114800"/>
            <a:ext cx="516636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i="1">
                <a:solidFill>
                  <a:srgbClr val="64748B"/>
                </a:solidFill>
                <a:latin typeface="Calibri"/>
              </a:rPr>
              <a:t>One-month scenario analysis from June actuals, not a statistical forecast. All three scenarios keep EBITDA negative.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320040"/>
            <a:ext cx="64008" cy="64008"/>
          </a:xfrm>
          <a:prstGeom prst="ellipse">
            <a:avLst/>
          </a:prstGeom>
          <a:solidFill>
            <a:srgbClr val="0D9488">
              <a:alpha val="35000"/>
            </a:srgbClr>
          </a:solidFill>
          <a:ln w="12700">
            <a:solidFill>
              <a:srgbClr val="0D948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029200" y="868680"/>
            <a:ext cx="64008" cy="64008"/>
          </a:xfrm>
          <a:prstGeom prst="ellipse">
            <a:avLst/>
          </a:prstGeom>
          <a:solidFill>
            <a:srgbClr val="0D9488">
              <a:alpha val="35000"/>
            </a:srgbClr>
          </a:solidFill>
          <a:ln w="12700">
            <a:solidFill>
              <a:srgbClr val="0D948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029200" y="1417320"/>
            <a:ext cx="64008" cy="64008"/>
          </a:xfrm>
          <a:prstGeom prst="ellipse">
            <a:avLst/>
          </a:prstGeom>
          <a:solidFill>
            <a:srgbClr val="0D9488">
              <a:alpha val="35000"/>
            </a:srgbClr>
          </a:solidFill>
          <a:ln w="12700">
            <a:solidFill>
              <a:srgbClr val="0D948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0" y="1965960"/>
            <a:ext cx="64008" cy="64008"/>
          </a:xfrm>
          <a:prstGeom prst="ellipse">
            <a:avLst/>
          </a:prstGeom>
          <a:solidFill>
            <a:srgbClr val="0D9488">
              <a:alpha val="35000"/>
            </a:srgbClr>
          </a:solidFill>
          <a:ln w="12700">
            <a:solidFill>
              <a:srgbClr val="0D948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0" y="2514600"/>
            <a:ext cx="64008" cy="64008"/>
          </a:xfrm>
          <a:prstGeom prst="ellipse">
            <a:avLst/>
          </a:prstGeom>
          <a:solidFill>
            <a:srgbClr val="0D9488">
              <a:alpha val="35000"/>
            </a:srgbClr>
          </a:solidFill>
          <a:ln w="12700">
            <a:solidFill>
              <a:srgbClr val="0D948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532120" y="320040"/>
            <a:ext cx="64008" cy="64008"/>
          </a:xfrm>
          <a:prstGeom prst="ellipse">
            <a:avLst/>
          </a:prstGeom>
          <a:solidFill>
            <a:srgbClr val="0D9488">
              <a:alpha val="35000"/>
            </a:srgbClr>
          </a:solidFill>
          <a:ln w="12700">
            <a:solidFill>
              <a:srgbClr val="0D948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532120" y="868680"/>
            <a:ext cx="64008" cy="64008"/>
          </a:xfrm>
          <a:prstGeom prst="ellipse">
            <a:avLst/>
          </a:prstGeom>
          <a:solidFill>
            <a:srgbClr val="0D9488">
              <a:alpha val="35000"/>
            </a:srgbClr>
          </a:solidFill>
          <a:ln w="12700">
            <a:solidFill>
              <a:srgbClr val="0D948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532120" y="1417320"/>
            <a:ext cx="64008" cy="64008"/>
          </a:xfrm>
          <a:prstGeom prst="ellipse">
            <a:avLst/>
          </a:prstGeom>
          <a:solidFill>
            <a:srgbClr val="0D9488">
              <a:alpha val="35000"/>
            </a:srgbClr>
          </a:solidFill>
          <a:ln w="12700">
            <a:solidFill>
              <a:srgbClr val="0D948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532120" y="1965960"/>
            <a:ext cx="64008" cy="64008"/>
          </a:xfrm>
          <a:prstGeom prst="ellipse">
            <a:avLst/>
          </a:prstGeom>
          <a:solidFill>
            <a:srgbClr val="0D9488">
              <a:alpha val="35000"/>
            </a:srgbClr>
          </a:solidFill>
          <a:ln w="12700">
            <a:solidFill>
              <a:srgbClr val="0D948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532120" y="2514600"/>
            <a:ext cx="64008" cy="64008"/>
          </a:xfrm>
          <a:prstGeom prst="ellipse">
            <a:avLst/>
          </a:prstGeom>
          <a:solidFill>
            <a:srgbClr val="0D9488">
              <a:alpha val="35000"/>
            </a:srgbClr>
          </a:solidFill>
          <a:ln w="12700">
            <a:solidFill>
              <a:srgbClr val="0D948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035040" y="320040"/>
            <a:ext cx="64008" cy="64008"/>
          </a:xfrm>
          <a:prstGeom prst="ellipse">
            <a:avLst/>
          </a:prstGeom>
          <a:solidFill>
            <a:srgbClr val="0D9488">
              <a:alpha val="35000"/>
            </a:srgbClr>
          </a:solidFill>
          <a:ln w="12700">
            <a:solidFill>
              <a:srgbClr val="0D948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035040" y="868680"/>
            <a:ext cx="64008" cy="64008"/>
          </a:xfrm>
          <a:prstGeom prst="ellipse">
            <a:avLst/>
          </a:prstGeom>
          <a:solidFill>
            <a:srgbClr val="0D9488">
              <a:alpha val="35000"/>
            </a:srgbClr>
          </a:solidFill>
          <a:ln w="12700">
            <a:solidFill>
              <a:srgbClr val="0D948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035040" y="1417320"/>
            <a:ext cx="64008" cy="64008"/>
          </a:xfrm>
          <a:prstGeom prst="ellipse">
            <a:avLst/>
          </a:prstGeom>
          <a:solidFill>
            <a:srgbClr val="0D9488">
              <a:alpha val="35000"/>
            </a:srgbClr>
          </a:solidFill>
          <a:ln w="12700">
            <a:solidFill>
              <a:srgbClr val="0D948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035040" y="1965960"/>
            <a:ext cx="64008" cy="64008"/>
          </a:xfrm>
          <a:prstGeom prst="ellipse">
            <a:avLst/>
          </a:prstGeom>
          <a:solidFill>
            <a:srgbClr val="0D9488">
              <a:alpha val="35000"/>
            </a:srgbClr>
          </a:solidFill>
          <a:ln w="12700">
            <a:solidFill>
              <a:srgbClr val="0D948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35040" y="2514600"/>
            <a:ext cx="64008" cy="64008"/>
          </a:xfrm>
          <a:prstGeom prst="ellipse">
            <a:avLst/>
          </a:prstGeom>
          <a:solidFill>
            <a:srgbClr val="0D9488">
              <a:alpha val="35000"/>
            </a:srgbClr>
          </a:solidFill>
          <a:ln w="12700">
            <a:solidFill>
              <a:srgbClr val="0D948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537960" y="320040"/>
            <a:ext cx="64008" cy="64008"/>
          </a:xfrm>
          <a:prstGeom prst="ellipse">
            <a:avLst/>
          </a:prstGeom>
          <a:solidFill>
            <a:srgbClr val="0D9488">
              <a:alpha val="35000"/>
            </a:srgbClr>
          </a:solidFill>
          <a:ln w="12700">
            <a:solidFill>
              <a:srgbClr val="0D948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537960" y="868680"/>
            <a:ext cx="64008" cy="64008"/>
          </a:xfrm>
          <a:prstGeom prst="ellipse">
            <a:avLst/>
          </a:prstGeom>
          <a:solidFill>
            <a:srgbClr val="0D9488">
              <a:alpha val="35000"/>
            </a:srgbClr>
          </a:solidFill>
          <a:ln w="12700">
            <a:solidFill>
              <a:srgbClr val="0D948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537960" y="1417320"/>
            <a:ext cx="64008" cy="64008"/>
          </a:xfrm>
          <a:prstGeom prst="ellipse">
            <a:avLst/>
          </a:prstGeom>
          <a:solidFill>
            <a:srgbClr val="0D9488">
              <a:alpha val="35000"/>
            </a:srgbClr>
          </a:solidFill>
          <a:ln w="12700">
            <a:solidFill>
              <a:srgbClr val="0D948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537960" y="1965960"/>
            <a:ext cx="64008" cy="64008"/>
          </a:xfrm>
          <a:prstGeom prst="ellipse">
            <a:avLst/>
          </a:prstGeom>
          <a:solidFill>
            <a:srgbClr val="0D9488">
              <a:alpha val="35000"/>
            </a:srgbClr>
          </a:solidFill>
          <a:ln w="12700">
            <a:solidFill>
              <a:srgbClr val="0D948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537960" y="2514600"/>
            <a:ext cx="64008" cy="64008"/>
          </a:xfrm>
          <a:prstGeom prst="ellipse">
            <a:avLst/>
          </a:prstGeom>
          <a:solidFill>
            <a:srgbClr val="0D9488">
              <a:alpha val="35000"/>
            </a:srgbClr>
          </a:solidFill>
          <a:ln w="12700">
            <a:solidFill>
              <a:srgbClr val="0D948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040880" y="320040"/>
            <a:ext cx="64008" cy="64008"/>
          </a:xfrm>
          <a:prstGeom prst="ellipse">
            <a:avLst/>
          </a:prstGeom>
          <a:solidFill>
            <a:srgbClr val="0D9488">
              <a:alpha val="35000"/>
            </a:srgbClr>
          </a:solidFill>
          <a:ln w="12700">
            <a:solidFill>
              <a:srgbClr val="0D948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040880" y="868680"/>
            <a:ext cx="64008" cy="64008"/>
          </a:xfrm>
          <a:prstGeom prst="ellipse">
            <a:avLst/>
          </a:prstGeom>
          <a:solidFill>
            <a:srgbClr val="0D9488">
              <a:alpha val="35000"/>
            </a:srgbClr>
          </a:solidFill>
          <a:ln w="12700">
            <a:solidFill>
              <a:srgbClr val="0D948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040880" y="1417320"/>
            <a:ext cx="64008" cy="64008"/>
          </a:xfrm>
          <a:prstGeom prst="ellipse">
            <a:avLst/>
          </a:prstGeom>
          <a:solidFill>
            <a:srgbClr val="0D9488">
              <a:alpha val="35000"/>
            </a:srgbClr>
          </a:solidFill>
          <a:ln w="12700">
            <a:solidFill>
              <a:srgbClr val="0D948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040880" y="1965960"/>
            <a:ext cx="64008" cy="64008"/>
          </a:xfrm>
          <a:prstGeom prst="ellipse">
            <a:avLst/>
          </a:prstGeom>
          <a:solidFill>
            <a:srgbClr val="0D9488">
              <a:alpha val="35000"/>
            </a:srgbClr>
          </a:solidFill>
          <a:ln w="12700">
            <a:solidFill>
              <a:srgbClr val="0D948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040880" y="2514600"/>
            <a:ext cx="64008" cy="64008"/>
          </a:xfrm>
          <a:prstGeom prst="ellipse">
            <a:avLst/>
          </a:prstGeom>
          <a:solidFill>
            <a:srgbClr val="0D9488">
              <a:alpha val="35000"/>
            </a:srgbClr>
          </a:solidFill>
          <a:ln w="12700">
            <a:solidFill>
              <a:srgbClr val="0D948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543800" y="320040"/>
            <a:ext cx="64008" cy="64008"/>
          </a:xfrm>
          <a:prstGeom prst="ellipse">
            <a:avLst/>
          </a:prstGeom>
          <a:solidFill>
            <a:srgbClr val="0D9488">
              <a:alpha val="35000"/>
            </a:srgbClr>
          </a:solidFill>
          <a:ln w="12700">
            <a:solidFill>
              <a:srgbClr val="0D948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543800" y="868680"/>
            <a:ext cx="64008" cy="64008"/>
          </a:xfrm>
          <a:prstGeom prst="ellipse">
            <a:avLst/>
          </a:prstGeom>
          <a:solidFill>
            <a:srgbClr val="0D9488">
              <a:alpha val="35000"/>
            </a:srgbClr>
          </a:solidFill>
          <a:ln w="12700">
            <a:solidFill>
              <a:srgbClr val="0D948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543800" y="1417320"/>
            <a:ext cx="64008" cy="64008"/>
          </a:xfrm>
          <a:prstGeom prst="ellipse">
            <a:avLst/>
          </a:prstGeom>
          <a:solidFill>
            <a:srgbClr val="0D9488">
              <a:alpha val="35000"/>
            </a:srgbClr>
          </a:solidFill>
          <a:ln w="12700">
            <a:solidFill>
              <a:srgbClr val="0D948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543800" y="1965960"/>
            <a:ext cx="64008" cy="64008"/>
          </a:xfrm>
          <a:prstGeom prst="ellipse">
            <a:avLst/>
          </a:prstGeom>
          <a:solidFill>
            <a:srgbClr val="0D9488">
              <a:alpha val="35000"/>
            </a:srgbClr>
          </a:solidFill>
          <a:ln w="12700">
            <a:solidFill>
              <a:srgbClr val="0D948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543800" y="2514600"/>
            <a:ext cx="64008" cy="64008"/>
          </a:xfrm>
          <a:prstGeom prst="ellipse">
            <a:avLst/>
          </a:prstGeom>
          <a:solidFill>
            <a:srgbClr val="0D9488">
              <a:alpha val="35000"/>
            </a:srgbClr>
          </a:solidFill>
          <a:ln w="12700">
            <a:solidFill>
              <a:srgbClr val="0D948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046720" y="320040"/>
            <a:ext cx="64008" cy="64008"/>
          </a:xfrm>
          <a:prstGeom prst="ellipse">
            <a:avLst/>
          </a:prstGeom>
          <a:solidFill>
            <a:srgbClr val="0D9488">
              <a:alpha val="35000"/>
            </a:srgbClr>
          </a:solidFill>
          <a:ln w="12700">
            <a:solidFill>
              <a:srgbClr val="0D948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8046720" y="868680"/>
            <a:ext cx="64008" cy="64008"/>
          </a:xfrm>
          <a:prstGeom prst="ellipse">
            <a:avLst/>
          </a:prstGeom>
          <a:solidFill>
            <a:srgbClr val="0D9488">
              <a:alpha val="35000"/>
            </a:srgbClr>
          </a:solidFill>
          <a:ln w="12700">
            <a:solidFill>
              <a:srgbClr val="0D948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8046720" y="1417320"/>
            <a:ext cx="64008" cy="64008"/>
          </a:xfrm>
          <a:prstGeom prst="ellipse">
            <a:avLst/>
          </a:prstGeom>
          <a:solidFill>
            <a:srgbClr val="0D9488">
              <a:alpha val="35000"/>
            </a:srgbClr>
          </a:solidFill>
          <a:ln w="12700">
            <a:solidFill>
              <a:srgbClr val="0D948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8046720" y="1965960"/>
            <a:ext cx="64008" cy="64008"/>
          </a:xfrm>
          <a:prstGeom prst="ellipse">
            <a:avLst/>
          </a:prstGeom>
          <a:solidFill>
            <a:srgbClr val="0D9488">
              <a:alpha val="35000"/>
            </a:srgbClr>
          </a:solidFill>
          <a:ln w="12700">
            <a:solidFill>
              <a:srgbClr val="0D948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8046720" y="2514600"/>
            <a:ext cx="64008" cy="64008"/>
          </a:xfrm>
          <a:prstGeom prst="ellipse">
            <a:avLst/>
          </a:prstGeom>
          <a:solidFill>
            <a:srgbClr val="0D9488">
              <a:alpha val="35000"/>
            </a:srgbClr>
          </a:solidFill>
          <a:ln w="12700">
            <a:solidFill>
              <a:srgbClr val="0D948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8549640" y="320040"/>
            <a:ext cx="64008" cy="64008"/>
          </a:xfrm>
          <a:prstGeom prst="ellipse">
            <a:avLst/>
          </a:prstGeom>
          <a:solidFill>
            <a:srgbClr val="0D9488">
              <a:alpha val="35000"/>
            </a:srgbClr>
          </a:solidFill>
          <a:ln w="12700">
            <a:solidFill>
              <a:srgbClr val="0D948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8549640" y="868680"/>
            <a:ext cx="64008" cy="64008"/>
          </a:xfrm>
          <a:prstGeom prst="ellipse">
            <a:avLst/>
          </a:prstGeom>
          <a:solidFill>
            <a:srgbClr val="0D9488">
              <a:alpha val="35000"/>
            </a:srgbClr>
          </a:solidFill>
          <a:ln w="12700">
            <a:solidFill>
              <a:srgbClr val="0D948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8549640" y="1417320"/>
            <a:ext cx="64008" cy="64008"/>
          </a:xfrm>
          <a:prstGeom prst="ellipse">
            <a:avLst/>
          </a:prstGeom>
          <a:solidFill>
            <a:srgbClr val="0D9488">
              <a:alpha val="35000"/>
            </a:srgbClr>
          </a:solidFill>
          <a:ln w="12700">
            <a:solidFill>
              <a:srgbClr val="0D948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8549640" y="1965960"/>
            <a:ext cx="64008" cy="64008"/>
          </a:xfrm>
          <a:prstGeom prst="ellipse">
            <a:avLst/>
          </a:prstGeom>
          <a:solidFill>
            <a:srgbClr val="0D9488">
              <a:alpha val="35000"/>
            </a:srgbClr>
          </a:solidFill>
          <a:ln w="12700">
            <a:solidFill>
              <a:srgbClr val="0D948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8549640" y="2514600"/>
            <a:ext cx="64008" cy="64008"/>
          </a:xfrm>
          <a:prstGeom prst="ellipse">
            <a:avLst/>
          </a:prstGeom>
          <a:solidFill>
            <a:srgbClr val="0D9488">
              <a:alpha val="35000"/>
            </a:srgbClr>
          </a:solidFill>
          <a:ln w="12700">
            <a:solidFill>
              <a:srgbClr val="0D948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65760" y="3657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365760" y="804672"/>
            <a:ext cx="6858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FP&amp;A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Delivered.</a:t>
            </a:r>
            <a:endParaRPr lang="en-US" sz="3600" dirty="0"/>
          </a:p>
        </p:txBody>
      </p:sp>
      <p:sp>
        <p:nvSpPr>
          <p:cNvPr id="45" name="Shape 43"/>
          <p:cNvSpPr/>
          <p:nvPr/>
        </p:nvSpPr>
        <p:spPr>
          <a:xfrm>
            <a:off x="320040" y="2423160"/>
            <a:ext cx="1508760" cy="1508760"/>
          </a:xfrm>
          <a:prstGeom prst="rect">
            <a:avLst/>
          </a:prstGeom>
          <a:solidFill>
            <a:srgbClr val="162740"/>
          </a:solidFill>
          <a:ln w="12700">
            <a:solidFill>
              <a:srgbClr val="243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800100" y="251460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" y="2578608"/>
            <a:ext cx="420624" cy="420624"/>
          </a:xfrm>
          <a:prstGeom prst="rect">
            <a:avLst/>
          </a:prstGeom>
        </p:spPr>
      </p:pic>
      <p:sp>
        <p:nvSpPr>
          <p:cNvPr id="48" name="Text 45"/>
          <p:cNvSpPr/>
          <p:nvPr/>
        </p:nvSpPr>
        <p:spPr>
          <a:xfrm>
            <a:off x="365760" y="3145536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Modeling</a:t>
            </a:r>
            <a:endParaRPr lang="en-US" sz="1050" dirty="0"/>
          </a:p>
        </p:txBody>
      </p:sp>
      <p:sp>
        <p:nvSpPr>
          <p:cNvPr id="49" name="Text 46"/>
          <p:cNvSpPr/>
          <p:nvPr/>
        </p:nvSpPr>
        <p:spPr>
          <a:xfrm>
            <a:off x="365760" y="3529584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FP&amp;A Model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2020824" y="2423160"/>
            <a:ext cx="1508760" cy="1508760"/>
          </a:xfrm>
          <a:prstGeom prst="rect">
            <a:avLst/>
          </a:prstGeom>
          <a:solidFill>
            <a:srgbClr val="162740"/>
          </a:solidFill>
          <a:ln w="12700">
            <a:solidFill>
              <a:srgbClr val="243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8"/>
          <p:cNvSpPr/>
          <p:nvPr/>
        </p:nvSpPr>
        <p:spPr>
          <a:xfrm>
            <a:off x="2500884" y="251460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4892" y="2578608"/>
            <a:ext cx="420624" cy="420624"/>
          </a:xfrm>
          <a:prstGeom prst="rect">
            <a:avLst/>
          </a:prstGeom>
        </p:spPr>
      </p:pic>
      <p:sp>
        <p:nvSpPr>
          <p:cNvPr id="53" name="Text 49"/>
          <p:cNvSpPr/>
          <p:nvPr/>
        </p:nvSpPr>
        <p:spPr>
          <a:xfrm>
            <a:off x="2066544" y="3145536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Analytics</a:t>
            </a:r>
            <a:endParaRPr lang="en-US" sz="1050" dirty="0"/>
          </a:p>
        </p:txBody>
      </p:sp>
      <p:sp>
        <p:nvSpPr>
          <p:cNvPr id="54" name="Text 50"/>
          <p:cNvSpPr/>
          <p:nvPr/>
        </p:nvSpPr>
        <p:spPr>
          <a:xfrm>
            <a:off x="2066544" y="3529584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Business Queries</a:t>
            </a:r>
            <a:endParaRPr lang="en-US" sz="900" dirty="0"/>
          </a:p>
        </p:txBody>
      </p:sp>
      <p:sp>
        <p:nvSpPr>
          <p:cNvPr id="55" name="Shape 51"/>
          <p:cNvSpPr/>
          <p:nvPr/>
        </p:nvSpPr>
        <p:spPr>
          <a:xfrm>
            <a:off x="3721608" y="2423160"/>
            <a:ext cx="1508760" cy="1508760"/>
          </a:xfrm>
          <a:prstGeom prst="rect">
            <a:avLst/>
          </a:prstGeom>
          <a:solidFill>
            <a:srgbClr val="162740"/>
          </a:solidFill>
          <a:ln w="12700">
            <a:solidFill>
              <a:srgbClr val="243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2"/>
          <p:cNvSpPr/>
          <p:nvPr/>
        </p:nvSpPr>
        <p:spPr>
          <a:xfrm>
            <a:off x="4201668" y="251460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5676" y="2578608"/>
            <a:ext cx="420624" cy="420624"/>
          </a:xfrm>
          <a:prstGeom prst="rect">
            <a:avLst/>
          </a:prstGeom>
        </p:spPr>
      </p:pic>
      <p:sp>
        <p:nvSpPr>
          <p:cNvPr id="58" name="Text 53"/>
          <p:cNvSpPr/>
          <p:nvPr/>
        </p:nvSpPr>
        <p:spPr>
          <a:xfrm>
            <a:off x="3767328" y="3145536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Analysis</a:t>
            </a:r>
            <a:endParaRPr lang="en-US" sz="1050" dirty="0"/>
          </a:p>
        </p:txBody>
      </p:sp>
      <p:sp>
        <p:nvSpPr>
          <p:cNvPr id="59" name="Text 54"/>
          <p:cNvSpPr/>
          <p:nvPr/>
        </p:nvSpPr>
        <p:spPr>
          <a:xfrm>
            <a:off x="3767328" y="3529584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&amp; Scenarios</a:t>
            </a:r>
            <a:endParaRPr lang="en-US" sz="900" dirty="0"/>
          </a:p>
        </p:txBody>
      </p:sp>
      <p:sp>
        <p:nvSpPr>
          <p:cNvPr id="60" name="Shape 55"/>
          <p:cNvSpPr/>
          <p:nvPr/>
        </p:nvSpPr>
        <p:spPr>
          <a:xfrm>
            <a:off x="5422392" y="2423160"/>
            <a:ext cx="1508760" cy="1508760"/>
          </a:xfrm>
          <a:prstGeom prst="rect">
            <a:avLst/>
          </a:prstGeom>
          <a:solidFill>
            <a:srgbClr val="162740"/>
          </a:solidFill>
          <a:ln w="12700">
            <a:solidFill>
              <a:srgbClr val="243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6"/>
          <p:cNvSpPr/>
          <p:nvPr/>
        </p:nvSpPr>
        <p:spPr>
          <a:xfrm>
            <a:off x="5902452" y="251460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6460" y="2578608"/>
            <a:ext cx="420624" cy="420624"/>
          </a:xfrm>
          <a:prstGeom prst="rect">
            <a:avLst/>
          </a:prstGeom>
        </p:spPr>
      </p:pic>
      <p:sp>
        <p:nvSpPr>
          <p:cNvPr id="63" name="Text 57"/>
          <p:cNvSpPr/>
          <p:nvPr/>
        </p:nvSpPr>
        <p:spPr>
          <a:xfrm>
            <a:off x="5468112" y="3145536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050" dirty="0"/>
          </a:p>
        </p:txBody>
      </p:sp>
      <p:sp>
        <p:nvSpPr>
          <p:cNvPr id="64" name="Text 58"/>
          <p:cNvSpPr/>
          <p:nvPr/>
        </p:nvSpPr>
        <p:spPr>
          <a:xfrm>
            <a:off x="5468112" y="3529584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Reporting</a:t>
            </a:r>
            <a:endParaRPr lang="en-US" sz="900" dirty="0"/>
          </a:p>
        </p:txBody>
      </p:sp>
      <p:sp>
        <p:nvSpPr>
          <p:cNvPr id="65" name="Shape 59"/>
          <p:cNvSpPr/>
          <p:nvPr/>
        </p:nvSpPr>
        <p:spPr>
          <a:xfrm>
            <a:off x="7123176" y="2423160"/>
            <a:ext cx="1508760" cy="1508760"/>
          </a:xfrm>
          <a:prstGeom prst="rect">
            <a:avLst/>
          </a:prstGeom>
          <a:solidFill>
            <a:srgbClr val="162740"/>
          </a:solidFill>
          <a:ln w="12700">
            <a:solidFill>
              <a:srgbClr val="243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0"/>
          <p:cNvSpPr/>
          <p:nvPr/>
        </p:nvSpPr>
        <p:spPr>
          <a:xfrm>
            <a:off x="7603236" y="251460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67244" y="2578608"/>
            <a:ext cx="420624" cy="420624"/>
          </a:xfrm>
          <a:prstGeom prst="rect">
            <a:avLst/>
          </a:prstGeom>
        </p:spPr>
      </p:pic>
      <p:sp>
        <p:nvSpPr>
          <p:cNvPr id="68" name="Text 61"/>
          <p:cNvSpPr/>
          <p:nvPr/>
        </p:nvSpPr>
        <p:spPr>
          <a:xfrm>
            <a:off x="7168896" y="3145536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Report</a:t>
            </a:r>
            <a:endParaRPr lang="en-US" sz="1050" dirty="0"/>
          </a:p>
        </p:txBody>
      </p:sp>
      <p:sp>
        <p:nvSpPr>
          <p:cNvPr id="69" name="Text 62"/>
          <p:cNvSpPr/>
          <p:nvPr/>
        </p:nvSpPr>
        <p:spPr>
          <a:xfrm>
            <a:off x="7168896" y="3529584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Leadership-Ready Output</a:t>
            </a:r>
            <a:endParaRPr lang="en-US" sz="900" dirty="0"/>
          </a:p>
        </p:txBody>
      </p:sp>
      <p:sp>
        <p:nvSpPr>
          <p:cNvPr id="70" name="Shape 63"/>
          <p:cNvSpPr/>
          <p:nvPr/>
        </p:nvSpPr>
        <p:spPr>
          <a:xfrm>
            <a:off x="0" y="4251960"/>
            <a:ext cx="9144000" cy="8915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4"/>
          <p:cNvSpPr/>
          <p:nvPr/>
        </p:nvSpPr>
        <p:spPr>
          <a:xfrm>
            <a:off x="365760" y="4352544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Srushti Mahant Pawar  ·  FP&amp;A Analytics Portfolio  ·  2026</a:t>
            </a:r>
            <a:endParaRPr lang="en-US" sz="1300" dirty="0"/>
          </a:p>
        </p:txBody>
      </p:sp>
      <p:sp>
        <p:nvSpPr>
          <p:cNvPr id="72" name="Text 65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F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 ·  SQL  ·  Python  ·  Power BI  ·  GitHub  ·  LinkedIn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1410</Words>
  <Application>Microsoft Office PowerPoint</Application>
  <PresentationFormat>On-screen Show (16:9)</PresentationFormat>
  <Paragraphs>188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NovaPay Financial Performance Dashboard</dc:title>
  <dc:subject>PptxGenJS Presentation</dc:subject>
  <dc:creator>Srushti Mahant Pawar</dc:creator>
  <cp:lastModifiedBy>pawarrrsrush67@gmail.com</cp:lastModifiedBy>
  <cp:revision>3</cp:revision>
  <dcterms:created xsi:type="dcterms:W3CDTF">2026-05-28T19:24:56Z</dcterms:created>
  <dcterms:modified xsi:type="dcterms:W3CDTF">2026-10-12T20:40:01Z</dcterms:modified>
</cp:coreProperties>
</file>